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72" y="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YA SHARMA" userId="0705d451106e188e" providerId="LiveId" clId="{C652C436-2E5E-4569-8D82-5F471D923BED}"/>
    <pc:docChg chg="undo custSel modSld">
      <pc:chgData name="NITYA SHARMA" userId="0705d451106e188e" providerId="LiveId" clId="{C652C436-2E5E-4569-8D82-5F471D923BED}" dt="2026-06-10T18:49:03.757" v="65" actId="20577"/>
      <pc:docMkLst>
        <pc:docMk/>
      </pc:docMkLst>
      <pc:sldChg chg="modSp mod">
        <pc:chgData name="NITYA SHARMA" userId="0705d451106e188e" providerId="LiveId" clId="{C652C436-2E5E-4569-8D82-5F471D923BED}" dt="2026-06-10T18:47:43.113" v="61" actId="20577"/>
        <pc:sldMkLst>
          <pc:docMk/>
          <pc:sldMk cId="0" sldId="256"/>
        </pc:sldMkLst>
        <pc:spChg chg="mod">
          <ac:chgData name="NITYA SHARMA" userId="0705d451106e188e" providerId="LiveId" clId="{C652C436-2E5E-4569-8D82-5F471D923BED}" dt="2026-06-10T18:47:43.113" v="61" actId="20577"/>
          <ac:spMkLst>
            <pc:docMk/>
            <pc:sldMk cId="0" sldId="256"/>
            <ac:spMk id="6" creationId="{00000000-0000-0000-0000-000000000000}"/>
          </ac:spMkLst>
        </pc:spChg>
      </pc:sldChg>
      <pc:sldChg chg="delSp modSp mod">
        <pc:chgData name="NITYA SHARMA" userId="0705d451106e188e" providerId="LiveId" clId="{C652C436-2E5E-4569-8D82-5F471D923BED}" dt="2026-06-10T18:48:12.237" v="63" actId="478"/>
        <pc:sldMkLst>
          <pc:docMk/>
          <pc:sldMk cId="0" sldId="259"/>
        </pc:sldMkLst>
        <pc:spChg chg="del">
          <ac:chgData name="NITYA SHARMA" userId="0705d451106e188e" providerId="LiveId" clId="{C652C436-2E5E-4569-8D82-5F471D923BED}" dt="2026-06-10T18:48:12.237" v="63" actId="478"/>
          <ac:spMkLst>
            <pc:docMk/>
            <pc:sldMk cId="0" sldId="259"/>
            <ac:spMk id="33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8:09.706" v="62" actId="20577"/>
          <ac:spMkLst>
            <pc:docMk/>
            <pc:sldMk cId="0" sldId="259"/>
            <ac:spMk id="34" creationId="{00000000-0000-0000-0000-000000000000}"/>
          </ac:spMkLst>
        </pc:spChg>
      </pc:sldChg>
      <pc:sldChg chg="addSp delSp modSp mod">
        <pc:chgData name="NITYA SHARMA" userId="0705d451106e188e" providerId="LiveId" clId="{C652C436-2E5E-4569-8D82-5F471D923BED}" dt="2026-06-10T18:47:26.005" v="60" actId="1076"/>
        <pc:sldMkLst>
          <pc:docMk/>
          <pc:sldMk cId="0" sldId="264"/>
        </pc:sldMkLst>
        <pc:spChg chg="mod">
          <ac:chgData name="NITYA SHARMA" userId="0705d451106e188e" providerId="LiveId" clId="{C652C436-2E5E-4569-8D82-5F471D923BED}" dt="2026-06-10T18:45:40.699" v="42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49.375" v="44" actId="1410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57.255" v="47" actId="20577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52.828" v="45" actId="20577"/>
          <ac:spMkLst>
            <pc:docMk/>
            <pc:sldMk cId="0" sldId="264"/>
            <ac:spMk id="12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55.269" v="46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36.163" v="41" actId="20577"/>
          <ac:spMkLst>
            <pc:docMk/>
            <pc:sldMk cId="0" sldId="264"/>
            <ac:spMk id="14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5:33.093" v="39" actId="478"/>
          <ac:spMkLst>
            <pc:docMk/>
            <pc:sldMk cId="0" sldId="264"/>
            <ac:spMk id="15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6:01.511" v="48" actId="20577"/>
          <ac:spMkLst>
            <pc:docMk/>
            <pc:sldMk cId="0" sldId="264"/>
            <ac:spMk id="16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5:34.207" v="40" actId="47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16.762" v="32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20.527" v="33" actId="20577"/>
          <ac:spMkLst>
            <pc:docMk/>
            <pc:sldMk cId="0" sldId="264"/>
            <ac:spMk id="20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5:13.527" v="30" actId="478"/>
          <ac:spMkLst>
            <pc:docMk/>
            <pc:sldMk cId="0" sldId="264"/>
            <ac:spMk id="21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23.210" v="34" actId="20577"/>
          <ac:spMkLst>
            <pc:docMk/>
            <pc:sldMk cId="0" sldId="264"/>
            <ac:spMk id="22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5:31.517" v="38" actId="478"/>
          <ac:spMkLst>
            <pc:docMk/>
            <pc:sldMk cId="0" sldId="264"/>
            <ac:spMk id="23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25.831" v="35" actId="20577"/>
          <ac:spMkLst>
            <pc:docMk/>
            <pc:sldMk cId="0" sldId="264"/>
            <ac:spMk id="24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5:30.349" v="37" actId="478"/>
          <ac:spMkLst>
            <pc:docMk/>
            <pc:sldMk cId="0" sldId="264"/>
            <ac:spMk id="25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5:28.453" v="36" actId="20577"/>
          <ac:spMkLst>
            <pc:docMk/>
            <pc:sldMk cId="0" sldId="264"/>
            <ac:spMk id="26" creationId="{00000000-0000-0000-0000-000000000000}"/>
          </ac:spMkLst>
        </pc:spChg>
        <pc:picChg chg="add mod">
          <ac:chgData name="NITYA SHARMA" userId="0705d451106e188e" providerId="LiveId" clId="{C652C436-2E5E-4569-8D82-5F471D923BED}" dt="2026-06-10T18:46:37.133" v="55" actId="1076"/>
          <ac:picMkLst>
            <pc:docMk/>
            <pc:sldMk cId="0" sldId="264"/>
            <ac:picMk id="28" creationId="{98D5045F-088F-46E7-75D4-C404A9FB5843}"/>
          </ac:picMkLst>
        </pc:picChg>
        <pc:picChg chg="add mod">
          <ac:chgData name="NITYA SHARMA" userId="0705d451106e188e" providerId="LiveId" clId="{C652C436-2E5E-4569-8D82-5F471D923BED}" dt="2026-06-10T18:47:26.005" v="60" actId="1076"/>
          <ac:picMkLst>
            <pc:docMk/>
            <pc:sldMk cId="0" sldId="264"/>
            <ac:picMk id="30" creationId="{6E94AFB6-9658-ADEC-F80D-C7E62D186247}"/>
          </ac:picMkLst>
        </pc:picChg>
      </pc:sldChg>
      <pc:sldChg chg="addSp delSp modSp mod">
        <pc:chgData name="NITYA SHARMA" userId="0705d451106e188e" providerId="LiveId" clId="{C652C436-2E5E-4569-8D82-5F471D923BED}" dt="2026-06-10T18:45:06.356" v="29" actId="1076"/>
        <pc:sldMkLst>
          <pc:docMk/>
          <pc:sldMk cId="0" sldId="265"/>
        </pc:sldMkLst>
        <pc:spChg chg="mod">
          <ac:chgData name="NITYA SHARMA" userId="0705d451106e188e" providerId="LiveId" clId="{C652C436-2E5E-4569-8D82-5F471D923BED}" dt="2026-06-10T18:44:27.109" v="23" actId="20577"/>
          <ac:spMkLst>
            <pc:docMk/>
            <pc:sldMk cId="0" sldId="265"/>
            <ac:spMk id="6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4:02.086" v="15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4:10.143" v="18" actId="20577"/>
          <ac:spMkLst>
            <pc:docMk/>
            <pc:sldMk cId="0" sldId="265"/>
            <ac:spMk id="8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4:24.823" v="22" actId="478"/>
          <ac:spMkLst>
            <pc:docMk/>
            <pc:sldMk cId="0" sldId="265"/>
            <ac:spMk id="9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4:23.181" v="21" actId="20577"/>
          <ac:spMkLst>
            <pc:docMk/>
            <pc:sldMk cId="0" sldId="265"/>
            <ac:spMk id="10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4:00.304" v="14" actId="478"/>
          <ac:spMkLst>
            <pc:docMk/>
            <pc:sldMk cId="0" sldId="265"/>
            <ac:spMk id="11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4:05.445" v="17" actId="20577"/>
          <ac:spMkLst>
            <pc:docMk/>
            <pc:sldMk cId="0" sldId="265"/>
            <ac:spMk id="12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4:16.422" v="20" actId="47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4:15.067" v="19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3:32.177" v="3" actId="1076"/>
          <ac:spMkLst>
            <pc:docMk/>
            <pc:sldMk cId="0" sldId="265"/>
            <ac:spMk id="15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3:28.428" v="1" actId="478"/>
          <ac:spMkLst>
            <pc:docMk/>
            <pc:sldMk cId="0" sldId="265"/>
            <ac:spMk id="17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3:34.607" v="4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3:37.186" v="5" actId="20577"/>
          <ac:spMkLst>
            <pc:docMk/>
            <pc:sldMk cId="0" sldId="265"/>
            <ac:spMk id="20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3:24.605" v="0" actId="478"/>
          <ac:spMkLst>
            <pc:docMk/>
            <pc:sldMk cId="0" sldId="265"/>
            <ac:spMk id="21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3:40.123" v="6" actId="20577"/>
          <ac:spMkLst>
            <pc:docMk/>
            <pc:sldMk cId="0" sldId="265"/>
            <ac:spMk id="22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3:46.577" v="9" actId="478"/>
          <ac:spMkLst>
            <pc:docMk/>
            <pc:sldMk cId="0" sldId="265"/>
            <ac:spMk id="23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3:42.310" v="7" actId="20577"/>
          <ac:spMkLst>
            <pc:docMk/>
            <pc:sldMk cId="0" sldId="265"/>
            <ac:spMk id="24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3:47.777" v="10" actId="478"/>
          <ac:spMkLst>
            <pc:docMk/>
            <pc:sldMk cId="0" sldId="265"/>
            <ac:spMk id="25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3:44.504" v="8" actId="20577"/>
          <ac:spMkLst>
            <pc:docMk/>
            <pc:sldMk cId="0" sldId="265"/>
            <ac:spMk id="26" creationId="{00000000-0000-0000-0000-000000000000}"/>
          </ac:spMkLst>
        </pc:spChg>
        <pc:picChg chg="add mod">
          <ac:chgData name="NITYA SHARMA" userId="0705d451106e188e" providerId="LiveId" clId="{C652C436-2E5E-4569-8D82-5F471D923BED}" dt="2026-06-10T18:43:55.651" v="13" actId="1076"/>
          <ac:picMkLst>
            <pc:docMk/>
            <pc:sldMk cId="0" sldId="265"/>
            <ac:picMk id="28" creationId="{35F974BF-FFE9-E139-29F4-AF62C3561E64}"/>
          </ac:picMkLst>
        </pc:picChg>
        <pc:picChg chg="add mod">
          <ac:chgData name="NITYA SHARMA" userId="0705d451106e188e" providerId="LiveId" clId="{C652C436-2E5E-4569-8D82-5F471D923BED}" dt="2026-06-10T18:45:06.356" v="29" actId="1076"/>
          <ac:picMkLst>
            <pc:docMk/>
            <pc:sldMk cId="0" sldId="265"/>
            <ac:picMk id="30" creationId="{AE094C27-2852-33C0-2880-710F05817CA6}"/>
          </ac:picMkLst>
        </pc:picChg>
      </pc:sldChg>
      <pc:sldChg chg="delSp modSp mod">
        <pc:chgData name="NITYA SHARMA" userId="0705d451106e188e" providerId="LiveId" clId="{C652C436-2E5E-4569-8D82-5F471D923BED}" dt="2026-06-10T18:49:03.757" v="65" actId="20577"/>
        <pc:sldMkLst>
          <pc:docMk/>
          <pc:sldMk cId="0" sldId="267"/>
        </pc:sldMkLst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9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0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1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2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3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5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6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NITYA SHARMA" userId="0705d451106e188e" providerId="LiveId" clId="{C652C436-2E5E-4569-8D82-5F471D923BED}" dt="2026-06-10T18:48:56.548" v="64" actId="478"/>
          <ac:spMkLst>
            <pc:docMk/>
            <pc:sldMk cId="0" sldId="267"/>
            <ac:spMk id="18" creationId="{00000000-0000-0000-0000-000000000000}"/>
          </ac:spMkLst>
        </pc:spChg>
        <pc:spChg chg="mod">
          <ac:chgData name="NITYA SHARMA" userId="0705d451106e188e" providerId="LiveId" clId="{C652C436-2E5E-4569-8D82-5F471D923BED}" dt="2026-06-10T18:49:03.757" v="65" actId="20577"/>
          <ac:spMkLst>
            <pc:docMk/>
            <pc:sldMk cId="0" sldId="267"/>
            <ac:spMk id="19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SIP Inflow (₹ Cr)</c:v>
                </c:pt>
              </c:strCache>
            </c:strRef>
          </c:tx>
          <c:spPr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Jan'22</c:v>
                </c:pt>
                <c:pt idx="1">
                  <c:v>Jul'22</c:v>
                </c:pt>
                <c:pt idx="2">
                  <c:v>Jan'23</c:v>
                </c:pt>
                <c:pt idx="3">
                  <c:v>Jul'23</c:v>
                </c:pt>
                <c:pt idx="4">
                  <c:v>Jan'24</c:v>
                </c:pt>
                <c:pt idx="5">
                  <c:v>Jul'24</c:v>
                </c:pt>
                <c:pt idx="6">
                  <c:v>Jan'25</c:v>
                </c:pt>
                <c:pt idx="7">
                  <c:v>Jul'25</c:v>
                </c:pt>
                <c:pt idx="8">
                  <c:v>Dec'25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11000</c:v>
                </c:pt>
                <c:pt idx="1">
                  <c:v>12500</c:v>
                </c:pt>
                <c:pt idx="2">
                  <c:v>14000</c:v>
                </c:pt>
                <c:pt idx="3">
                  <c:v>15500</c:v>
                </c:pt>
                <c:pt idx="4">
                  <c:v>18000</c:v>
                </c:pt>
                <c:pt idx="5">
                  <c:v>22000</c:v>
                </c:pt>
                <c:pt idx="6">
                  <c:v>26000</c:v>
                </c:pt>
                <c:pt idx="7">
                  <c:v>29000</c:v>
                </c:pt>
                <c:pt idx="8">
                  <c:v>31002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8F-47B9-8106-12231A2E09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DB-40FE-A0A3-74EFA1AFFCC5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DB-40FE-A0A3-74EFA1AFFCC5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DB-40FE-A0A3-74EFA1AFFCC5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DB-40FE-A0A3-74EFA1AFFCC5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DB-40FE-A0A3-74EFA1AFFCC5}"/>
              </c:ext>
            </c:extLst>
          </c:dPt>
          <c:dPt>
            <c:idx val="5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4DB-40FE-A0A3-74EFA1AFFCC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4DB-40FE-A0A3-74EFA1AFFCC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4DB-40FE-A0A3-74EFA1AFFCC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DB-40FE-A0A3-74EFA1AFFCC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4DB-40FE-A0A3-74EFA1AFFCC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4DB-40FE-A0A3-74EFA1AFFCC5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4DB-40FE-A0A3-74EFA1AFFCC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Large Cap</c:v>
                </c:pt>
                <c:pt idx="1">
                  <c:v>Mid Cap</c:v>
                </c:pt>
                <c:pt idx="2">
                  <c:v>Small Cap</c:v>
                </c:pt>
                <c:pt idx="3">
                  <c:v>Flexi Cap</c:v>
                </c:pt>
                <c:pt idx="4">
                  <c:v>Debt</c:v>
                </c:pt>
                <c:pt idx="5">
                  <c:v>Others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</c:v>
                </c:pt>
                <c:pt idx="1">
                  <c:v>7</c:v>
                </c:pt>
                <c:pt idx="2">
                  <c:v>6</c:v>
                </c:pt>
                <c:pt idx="3">
                  <c:v>2</c:v>
                </c:pt>
                <c:pt idx="4">
                  <c:v>6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4DB-40FE-A0A3-74EFA1AFFC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AUM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SBI</c:v>
                </c:pt>
                <c:pt idx="1">
                  <c:v>ICICI</c:v>
                </c:pt>
                <c:pt idx="2">
                  <c:v>HDFC</c:v>
                </c:pt>
                <c:pt idx="3">
                  <c:v>Nippon</c:v>
                </c:pt>
                <c:pt idx="4">
                  <c:v>Kotak</c:v>
                </c:pt>
                <c:pt idx="5">
                  <c:v>ABSL</c:v>
                </c:pt>
                <c:pt idx="6">
                  <c:v>UTI</c:v>
                </c:pt>
                <c:pt idx="7">
                  <c:v>Axis</c:v>
                </c:pt>
                <c:pt idx="8">
                  <c:v>Mirae</c:v>
                </c:pt>
                <c:pt idx="9">
                  <c:v>DSP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943444</c:v>
                </c:pt>
                <c:pt idx="1">
                  <c:v>699222</c:v>
                </c:pt>
                <c:pt idx="2">
                  <c:v>636889</c:v>
                </c:pt>
                <c:pt idx="3">
                  <c:v>434333</c:v>
                </c:pt>
                <c:pt idx="4">
                  <c:v>389111</c:v>
                </c:pt>
                <c:pt idx="5">
                  <c:v>341889</c:v>
                </c:pt>
                <c:pt idx="6">
                  <c:v>297889</c:v>
                </c:pt>
                <c:pt idx="7">
                  <c:v>280111</c:v>
                </c:pt>
                <c:pt idx="8">
                  <c:v>173444</c:v>
                </c:pt>
                <c:pt idx="9">
                  <c:v>156556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64-48A1-B863-81137E42E3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Investors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A1C-4428-B749-A140EF729903}"/>
              </c:ext>
            </c:extLst>
          </c:dPt>
          <c:dPt>
            <c:idx val="1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A1C-4428-B749-A140EF729903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A1C-4428-B749-A140EF729903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A1C-4428-B749-A140EF729903}"/>
              </c:ext>
            </c:extLst>
          </c:dPt>
          <c:dPt>
            <c:idx val="4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A1C-4428-B749-A140EF72990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A1C-4428-B749-A140EF72990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A1C-4428-B749-A140EF72990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A1C-4428-B749-A140EF72990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A1C-4428-B749-A140EF729903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A1C-4428-B749-A140EF72990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18-25</c:v>
                </c:pt>
                <c:pt idx="1">
                  <c:v>26-35</c:v>
                </c:pt>
                <c:pt idx="2">
                  <c:v>36-45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</c:v>
                </c:pt>
                <c:pt idx="1">
                  <c:v>43</c:v>
                </c:pt>
                <c:pt idx="2">
                  <c:v>25</c:v>
                </c:pt>
                <c:pt idx="3">
                  <c:v>14</c:v>
                </c:pt>
                <c:pt idx="4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A1C-4428-B749-A140EF7299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73-4BEF-84A9-36225D78DEB6}"/>
              </c:ext>
            </c:extLst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73-4BEF-84A9-36225D78DEB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73-4BEF-84A9-36225D78DEB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73-4BEF-84A9-36225D78DEB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T30 Cities</c:v>
                </c:pt>
                <c:pt idx="1">
                  <c:v>B30 Cities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C73-4BEF-84A9-36225D78D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3yr CAGR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B0B-41BA-96ED-AE3BBAD210E6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B0B-41BA-96ED-AE3BBAD210E6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B0B-41BA-96ED-AE3BBAD210E6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B0B-41BA-96ED-AE3BBAD210E6}"/>
              </c:ext>
            </c:extLst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B0B-41BA-96ED-AE3BBAD210E6}"/>
              </c:ext>
            </c:extLst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0B0B-41BA-96ED-AE3BBAD210E6}"/>
              </c:ext>
            </c:extLst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B0B-41BA-96ED-AE3BBAD210E6}"/>
              </c:ext>
            </c:extLst>
          </c:dPt>
          <c:dPt>
            <c:idx val="7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B0B-41BA-96ED-AE3BBAD210E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Small Cap</c:v>
                </c:pt>
                <c:pt idx="1">
                  <c:v>Mid Cap</c:v>
                </c:pt>
                <c:pt idx="2">
                  <c:v>Large &amp; Mid</c:v>
                </c:pt>
                <c:pt idx="3">
                  <c:v>Flexi Cap</c:v>
                </c:pt>
                <c:pt idx="4">
                  <c:v>Large Cap</c:v>
                </c:pt>
                <c:pt idx="5">
                  <c:v>ELSS</c:v>
                </c:pt>
                <c:pt idx="6">
                  <c:v>Gilt</c:v>
                </c:pt>
                <c:pt idx="7">
                  <c:v>Liquid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22.5</c:v>
                </c:pt>
                <c:pt idx="1">
                  <c:v>18.3</c:v>
                </c:pt>
                <c:pt idx="2">
                  <c:v>16.100000000000001</c:v>
                </c:pt>
                <c:pt idx="3">
                  <c:v>15.4</c:v>
                </c:pt>
                <c:pt idx="4">
                  <c:v>13.8</c:v>
                </c:pt>
                <c:pt idx="5">
                  <c:v>14.2</c:v>
                </c:pt>
                <c:pt idx="6">
                  <c:v>6.1</c:v>
                </c:pt>
                <c:pt idx="7">
                  <c:v>7.3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B0B-41BA-96ED-AE3BBAD210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BB-4D0D-80E1-F21CD8D3E9C8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BB-4D0D-80E1-F21CD8D3E9C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BB-4D0D-80E1-F21CD8D3E9C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BB-4D0D-80E1-F21CD8D3E9C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Regular (≤35 days)</c:v>
                </c:pt>
                <c:pt idx="1">
                  <c:v>At-Risk (&gt;35 days)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8BB-4D0D-80E1-F21CD8D3E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Concentration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A3-4D43-9064-E72C162730B7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A3-4D43-9064-E72C162730B7}"/>
              </c:ext>
            </c:extLst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7A3-4D43-9064-E72C162730B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7A3-4D43-9064-E72C162730B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7A3-4D43-9064-E72C162730B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7A3-4D43-9064-E72C162730B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Low HHI</c:v>
                </c:pt>
                <c:pt idx="1">
                  <c:v>Moderate HHI</c:v>
                </c:pt>
                <c:pt idx="2">
                  <c:v>High HHI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35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7A3-4D43-9064-E72C162730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0F4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3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0A500"/>
                </a:solidFill>
              </a:rPr>
              <a:t>BLUESTOCK FINTECH PVT. LTD.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Mutual Fund</a:t>
            </a:r>
            <a:endParaRPr lang="en-US" sz="4600" dirty="0"/>
          </a:p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</a:rPr>
              <a:t>Analytics Platform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</a:rPr>
              <a:t>Nitya Sharma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Data Analytics Intern  |  June 2026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GitHub: NityaSharma27/bluestock-analytics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</a:rPr>
              <a:t>PROBLEMS WE SOLVE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02920" y="1389888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60120" y="13258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Fragmentation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NAV, AUM, SIP data scattered across sources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204825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19842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 Unified 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2128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Investors can't compare funds easily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596896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502920" y="2706624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60120" y="26426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 Benchmark Tracking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28712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Retail investors lack alpha/tracking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255264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02920" y="3364992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0292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3009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Investor Blind Spot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35295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Demographics &amp; geography not analyzed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13632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4023360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4023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60120" y="39593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Slow Reporting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418795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Static PDFs take days to prepare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64748B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28016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92040" y="1325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O1  Python ETL pipeline from AMFI data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170992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892040" y="1755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O2  5-table SQLite star schema DB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139696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892040" y="21854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O3  EDA — 17+ analytical charts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2569464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92040" y="2615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O4  Sharpe, Sortino, Alpha, Beta, VaR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999232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892040" y="30449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O5  4-page Power BI dashboard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3429000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9204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O6  Investor demographic analysis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858768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4892040" y="39044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O7  Fund vs Nifty 50/100 benchmark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4288536"/>
            <a:ext cx="4023360" cy="347472"/>
          </a:xfrm>
          <a:prstGeom prst="roundRect">
            <a:avLst>
              <a:gd name="adj" fmla="val 157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892040" y="433425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</a:rPr>
              <a:t>O8  Final report + 12-slide deck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Sources &amp; Datasets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74320" y="896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10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Datasets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86868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011680" y="896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97,268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Total Rows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86868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49040" y="896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40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AMFI Schemes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0" y="86868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0" y="896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4.5 Yrs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NAV History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868680"/>
            <a:ext cx="155448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223760" y="89611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A500"/>
                </a:solidFill>
              </a:rPr>
              <a:t>32K+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23760" y="12984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Transactions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83080"/>
          <a:ext cx="7680960" cy="32918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Rows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01_fund_master.csv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 AMFI schemes, expense ratio, risk grade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AMFI India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02_nav_history.csv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46,000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Daily NAV Jan 2022–May 2026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mfapi.in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03_aum_by_fund_house.csv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Quarterly AUM for top 10 AMCs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AMFI Quarterly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04_monthly_sip_inflows.csv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Monthly SIP inflows &amp; accounts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AMFI Monthly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05_category_inflows.csv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144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Net inflows by category FY25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AMFI India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07_scheme_performance.csv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Sharpe, Alpha, Beta, Max Drawdown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Computed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08_investor_transactions.csv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32,778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SIP/Lumpsum/Redemption transactions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Simulated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09_portfolio_holdings.csv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322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Top stock holdings per equity fund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AMFI India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10_benchmark_indices.csv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8,050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Nifty 50, 100, BSE SmallCap daily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NSE/BSE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 &amp; ETL Pipeline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58368"/>
            <a:ext cx="1371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0120" y="1051560"/>
            <a:ext cx="365760" cy="3657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EXTRACT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mfapi.in REST API + Local CSVs (AMFI)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2560320"/>
            <a:ext cx="146304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066544" y="96012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660904" y="1051560"/>
            <a:ext cx="365760" cy="36576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660904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12264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TRANSFORM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57984" y="20116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Pandas cleaning · Type casting · Forward-fill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21024" y="2560320"/>
            <a:ext cx="146304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767328" y="96012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361688" y="10515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361688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13048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LOAD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58768" y="20116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SQLite DB via SQLAlchemy · 5-table star schema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21808" y="2560320"/>
            <a:ext cx="146304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468112" y="96012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062472" y="1051560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062472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13832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ANALYSE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9552" y="20116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Jupyter Notebooks · Sharpe · VaR · Alpha · Beta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22592" y="2560320"/>
            <a:ext cx="146304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168896" y="960120"/>
            <a:ext cx="1554480" cy="3291840"/>
          </a:xfrm>
          <a:prstGeom prst="roundRect">
            <a:avLst>
              <a:gd name="adj" fmla="val 7059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7763256" y="105156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763256" y="1051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14616" y="15087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</a:rPr>
              <a:t>VISUALISE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60336" y="201168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Power BI · 4 interactive pages · Slicers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Highlights — Part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📈  SIP Inflow Growth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25880"/>
          <a:ext cx="39319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86868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🏦  Fund Distribution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846320" y="1325880"/>
          <a:ext cx="39319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154680"/>
            <a:ext cx="8595360" cy="1783080"/>
          </a:xfrm>
          <a:prstGeom prst="roundRect">
            <a:avLst>
              <a:gd name="adj" fmla="val 5128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457200" y="3246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💰  AUM by Fund House (₹ Crore)</a:t>
            </a:r>
            <a:endParaRPr lang="en-US" sz="1200" dirty="0"/>
          </a:p>
        </p:txBody>
      </p:sp>
      <p:graphicFrame>
        <p:nvGraphicFramePr>
          <p:cNvPr id="12" name="Chart 2"/>
          <p:cNvGraphicFramePr/>
          <p:nvPr/>
        </p:nvGraphicFramePr>
        <p:xfrm>
          <a:off x="365760" y="3566160"/>
          <a:ext cx="84124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EDA Highlights — Part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👥  Investors by Age Group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325880"/>
          <a:ext cx="39319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868680"/>
            <a:ext cx="4114800" cy="2194560"/>
          </a:xfrm>
          <a:prstGeom prst="roundRect">
            <a:avLst>
              <a:gd name="adj" fmla="val 41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🗺️  T30 vs B30 City Transactions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846320" y="1325880"/>
          <a:ext cx="393192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154680"/>
            <a:ext cx="8595360" cy="1783080"/>
          </a:xfrm>
          <a:prstGeom prst="roundRect">
            <a:avLst>
              <a:gd name="adj" fmla="val 512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🔑  Key EDA Findings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3611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✦  SIP inflows grew 2.8× — ₹11,000 Cr → ₹31,002 Cr (Dec 2025 all-time high)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502920" y="384962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✦  Industry folios doubled — 13.26 Cr → 26.12 Cr in 4 years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02920" y="40873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✦  26-35 age group dominates — 43% of all investors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502920" y="43251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✦  Punjab leads state transactions · T30 cities = 56% · B30 growing 2.5× faster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02920" y="45628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✦  Large Cap funds highly correlated (&gt;0.85) · Debt + Equity gives good diversification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Fund Performance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303520" cy="2468880"/>
          </a:xfrm>
          <a:prstGeom prst="roundRect">
            <a:avLst>
              <a:gd name="adj" fmla="val 3704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🏆  Top 5 Funds — Composite Scorecard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663440" cy="202996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Fund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3yr CAGR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Sharpe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SBI Small Cap Direct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23.39%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0.93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30.34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SBI Small Cap Regular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23.14%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30.14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ABSL Small Cap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22.38%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0.90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28.27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Axis Small Cap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20.98%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26.08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Nippon Small Cap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20.15%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0.81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25.60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868680"/>
            <a:ext cx="3108960" cy="2468880"/>
          </a:xfrm>
          <a:prstGeom prst="roundRect">
            <a:avLst>
              <a:gd name="adj" fmla="val 3704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5"/>
          <p:cNvSpPr/>
          <p:nvPr/>
        </p:nvSpPr>
        <p:spPr>
          <a:xfrm>
            <a:off x="594360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📐  Metrics Computed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97880" y="13716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CAGR:  </a:t>
            </a:r>
            <a:r>
              <a:rPr lang="en-US" sz="900" dirty="0">
                <a:solidFill>
                  <a:srgbClr val="64748B"/>
                </a:solidFill>
              </a:rPr>
              <a:t>1yr / 3yr / 5yr returns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897880" y="163677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Sharpe:  </a:t>
            </a:r>
            <a:r>
              <a:rPr lang="en-US" sz="900" dirty="0">
                <a:solidFill>
                  <a:srgbClr val="64748B"/>
                </a:solidFill>
              </a:rPr>
              <a:t>Risk-adjusted return (Rf=6.5%)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897880" y="190195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Sortino:  </a:t>
            </a:r>
            <a:r>
              <a:rPr lang="en-US" sz="900" dirty="0">
                <a:solidFill>
                  <a:srgbClr val="64748B"/>
                </a:solidFill>
              </a:rPr>
              <a:t>Downside risk adjusted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97880" y="216712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Alpha:  </a:t>
            </a:r>
            <a:r>
              <a:rPr lang="en-US" sz="900" dirty="0">
                <a:solidFill>
                  <a:srgbClr val="64748B"/>
                </a:solidFill>
              </a:rPr>
              <a:t>Excess return vs Nifty 100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97880" y="243230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Beta:  </a:t>
            </a:r>
            <a:r>
              <a:rPr lang="en-US" sz="900" dirty="0">
                <a:solidFill>
                  <a:srgbClr val="64748B"/>
                </a:solidFill>
              </a:rPr>
              <a:t>Market sensitivity (OLS)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Max DD:  </a:t>
            </a:r>
            <a:r>
              <a:rPr lang="en-US" sz="900" dirty="0">
                <a:solidFill>
                  <a:srgbClr val="64748B"/>
                </a:solidFill>
              </a:rPr>
              <a:t>Peak-to-trough decline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897880" y="296265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</a:rPr>
              <a:t>Score:  </a:t>
            </a:r>
            <a:r>
              <a:rPr lang="en-US" sz="900" dirty="0">
                <a:solidFill>
                  <a:srgbClr val="64748B"/>
                </a:solidFill>
              </a:rPr>
              <a:t>Composite 0-100 ranking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3429000"/>
            <a:ext cx="8595360" cy="1463040"/>
          </a:xfrm>
          <a:prstGeom prst="roundRect">
            <a:avLst>
              <a:gd name="adj" fmla="val 6250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📊  3-Year CAGR by Sub-Category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365760" y="3794760"/>
          <a:ext cx="8412480" cy="100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Advanced Risk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VaR 95%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~-2.5%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Small Cap worst case daily loss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50592" y="8686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542032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CVaR 95%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2032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~-3.2%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42032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Average loss beyond VaR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26864" y="8686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18304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Max Drawdown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18304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-38.4%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18304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Worst peak-to-trough decline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03136" y="8686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94576" y="960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Safest Fund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94576" y="1234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</a:rPr>
              <a:t>~0.01%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94576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Liquid funds — near zero VaR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4114800" cy="2468880"/>
          </a:xfrm>
          <a:prstGeom prst="roundRect">
            <a:avLst>
              <a:gd name="adj" fmla="val 3704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57200" y="2423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🔄  SIP Investor Status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2788920"/>
          <a:ext cx="3931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Shape 20"/>
          <p:cNvSpPr/>
          <p:nvPr/>
        </p:nvSpPr>
        <p:spPr>
          <a:xfrm>
            <a:off x="4663440" y="2331720"/>
            <a:ext cx="4206240" cy="2468880"/>
          </a:xfrm>
          <a:prstGeom prst="roundRect">
            <a:avLst>
              <a:gd name="adj" fmla="val 3704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84632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📊  Sector Concentration (HHI)</a:t>
            </a:r>
            <a:endParaRPr lang="en-US" sz="1200" dirty="0"/>
          </a:p>
        </p:txBody>
      </p:sp>
      <p:graphicFrame>
        <p:nvGraphicFramePr>
          <p:cNvPr id="25" name="Chart 1"/>
          <p:cNvGraphicFramePr/>
          <p:nvPr/>
        </p:nvGraphicFramePr>
        <p:xfrm>
          <a:off x="4754880" y="2788920"/>
          <a:ext cx="40233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 Dashboard — Pages 1 &amp; 2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0972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PAGE 1 — Industry Overview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79" y="1234440"/>
            <a:ext cx="3568409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252728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A500"/>
                </a:solidFill>
              </a:rPr>
              <a:t>₹81L Cr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0A500"/>
                </a:solidFill>
              </a:rPr>
              <a:t>Total AUM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71600" y="12344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71600" y="1252728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0A500"/>
                </a:solidFill>
              </a:rPr>
              <a:t>₹31K Cr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0A500"/>
                </a:solidFill>
              </a:rPr>
              <a:t>SIP Inflow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4597" y="1234440"/>
            <a:ext cx="3365291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2331720" y="1252728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91840" y="1234440"/>
            <a:ext cx="86868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3291840" y="1252728"/>
            <a:ext cx="8686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5720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73152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493776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PAGE 2 — Fund Performance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188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155448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766560" y="155448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24612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8D5045F-088F-46E7-75D4-C404A9FB5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1" y="1327754"/>
            <a:ext cx="3749040" cy="299278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6E94AFB6-9658-ADEC-F80D-C7E62D186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39" y="1234440"/>
            <a:ext cx="3794762" cy="34614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Power BI Dashboard — Pages 3 &amp; 4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566928"/>
            <a:ext cx="109728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74320" y="73152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PAGE 3 — Investor Analytics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731520"/>
            <a:ext cx="4114800" cy="4114800"/>
          </a:xfrm>
          <a:prstGeom prst="roundRect">
            <a:avLst>
              <a:gd name="adj" fmla="val 2667"/>
            </a:avLst>
          </a:prstGeom>
          <a:solidFill>
            <a:srgbClr val="1A2A5E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937760" y="822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</a:rPr>
              <a:t>PAGE 4 — SIP &amp; Market Trends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1207008"/>
            <a:ext cx="1645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1887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75120" y="1207008"/>
            <a:ext cx="21031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3774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3566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45720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5F974BF-FFE9-E139-29F4-AF62C3561E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3729" y="1341807"/>
            <a:ext cx="3265661" cy="31428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AE094C27-2852-33C0-2880-710F05817C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207008"/>
            <a:ext cx="3873110" cy="32049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Findings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9692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SIP Surge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22529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SIP inflows grew 2.8× to ₹31,002 Cr — India's equity culture is maturing rapidly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1682496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11480" y="181965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Best Performers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9933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SBI Small Cap leads with 23.39% 3yr CAGR and highest alpha (30.34%)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1480" y="2587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🏦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0120" y="250545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SBI Dominance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76148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SBI MF is India's largest AMC with ₹12.5L Cr AUM — 3× more than DSP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218688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11480" y="33558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2735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Young Investors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52958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26-35 age group = 43% of investors. Youth-driven SIP culture is the growth engine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986784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0F4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11480" y="41239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60120" y="404164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Folios Doubled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2976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MF folios grew from 13.26 Cr to 26.12 Cr — 2× retail participation in 4 years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914400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760720" y="102412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💡  Recommendations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715000" y="1463040"/>
            <a:ext cx="2926080" cy="530352"/>
          </a:xfrm>
          <a:prstGeom prst="roundRect">
            <a:avLst>
              <a:gd name="adj" fmla="val 12069"/>
            </a:avLst>
          </a:prstGeom>
          <a:solidFill>
            <a:srgbClr val="1A2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806440" y="150876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</a:rPr>
              <a:t>High Risk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601968" y="15087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SBI / ABSL Small Cap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→ 20%+ CAGR potential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715000" y="2084832"/>
            <a:ext cx="2926080" cy="530352"/>
          </a:xfrm>
          <a:prstGeom prst="roundRect">
            <a:avLst>
              <a:gd name="adj" fmla="val 12069"/>
            </a:avLst>
          </a:prstGeom>
          <a:solidFill>
            <a:srgbClr val="1A2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806440" y="2130552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</a:rPr>
              <a:t>Low Risk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01968" y="213055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ICICI Pru Liquid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→ Sharpe 7.68, stable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15000" y="2706624"/>
            <a:ext cx="2926080" cy="530352"/>
          </a:xfrm>
          <a:prstGeom prst="roundRect">
            <a:avLst>
              <a:gd name="adj" fmla="val 12069"/>
            </a:avLst>
          </a:prstGeom>
          <a:solidFill>
            <a:srgbClr val="1A2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806440" y="2752344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</a:rPr>
              <a:t>Tax Saving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01968" y="27523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ELSS funds before March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→ ₹1.5L deduction limit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15000" y="3328416"/>
            <a:ext cx="2926080" cy="530352"/>
          </a:xfrm>
          <a:prstGeom prst="roundRect">
            <a:avLst>
              <a:gd name="adj" fmla="val 12069"/>
            </a:avLst>
          </a:prstGeom>
          <a:solidFill>
            <a:srgbClr val="1A2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806440" y="3374136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</a:rPr>
              <a:t>AMCs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01968" y="33741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Focus B30 cities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→ Growing 2.5× faster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715000" y="3950208"/>
            <a:ext cx="2926080" cy="530352"/>
          </a:xfrm>
          <a:prstGeom prst="roundRect">
            <a:avLst>
              <a:gd name="adj" fmla="val 12069"/>
            </a:avLst>
          </a:prstGeom>
          <a:solidFill>
            <a:srgbClr val="1A2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806440" y="399592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</a:rPr>
              <a:t>Data Fix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601968" y="3995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Rectify AMFI code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</a:rPr>
              <a:t>mismatch in task sheet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200400" cy="3200400"/>
          </a:xfrm>
          <a:prstGeom prst="ellipse">
            <a:avLst/>
          </a:prstGeom>
          <a:solidFill>
            <a:srgbClr val="1E2761">
              <a:alpha val="50000"/>
            </a:srgbClr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1920240"/>
            <a:ext cx="27432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Bluestock Fintech — Mutual Fund Analytics Platform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890</Words>
  <Application>Microsoft Office PowerPoint</Application>
  <PresentationFormat>On-screen Show (16:9)</PresentationFormat>
  <Paragraphs>236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Platform</dc:title>
  <dc:subject>PptxGenJS Presentation</dc:subject>
  <dc:creator>Nitya Sharma</dc:creator>
  <cp:lastModifiedBy>NITYA SHARMA</cp:lastModifiedBy>
  <cp:revision>1</cp:revision>
  <dcterms:created xsi:type="dcterms:W3CDTF">2026-06-10T18:38:05Z</dcterms:created>
  <dcterms:modified xsi:type="dcterms:W3CDTF">2026-06-10T18:49:05Z</dcterms:modified>
</cp:coreProperties>
</file>